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2025</c:v>
                </c:pt>
              </c:strCache>
            </c:strRef>
          </c:tx>
          <c:cat>
            <c:strRef>
              <c:f>Sheet1!$A$2:$A$5</c:f>
              <c:strCache>
                <c:ptCount val="4"/>
                <c:pt idx="0">
                  <c:v>Q1</c:v>
                </c:pt>
                <c:pt idx="1">
                  <c:v>Q2</c:v>
                </c:pt>
                <c:pt idx="2">
                  <c:v>Q3</c:v>
                </c:pt>
                <c:pt idx="3">
                  <c:v>Q4</c:v>
                </c:pt>
              </c:strCache>
            </c:strRef>
          </c:cat>
          <c:val>
            <c:numRef>
              <c:f>Sheet1!$B$2:$B$5</c:f>
              <c:numCache>
                <c:formatCode>General</c:formatCode>
                <c:ptCount val="4"/>
                <c:pt idx="0">
                  <c:v>120</c:v>
                </c:pt>
                <c:pt idx="1">
                  <c:v>135</c:v>
                </c:pt>
                <c:pt idx="2">
                  <c:v>150</c:v>
                </c:pt>
                <c:pt idx="3">
                  <c:v>170</c:v>
                </c:pt>
              </c:numCache>
            </c:numRef>
          </c:val>
        </c:ser>
        <c:ser>
          <c:idx val="1"/>
          <c:order val="1"/>
          <c:tx>
            <c:strRef>
              <c:f>Sheet1!$C$1</c:f>
              <c:strCache>
                <c:ptCount val="1"/>
                <c:pt idx="0">
                  <c:v>2026</c:v>
                </c:pt>
              </c:strCache>
            </c:strRef>
          </c:tx>
          <c:cat>
            <c:strRef>
              <c:f>Sheet1!$A$2:$A$5</c:f>
              <c:strCache>
                <c:ptCount val="4"/>
                <c:pt idx="0">
                  <c:v>Q1</c:v>
                </c:pt>
                <c:pt idx="1">
                  <c:v>Q2</c:v>
                </c:pt>
                <c:pt idx="2">
                  <c:v>Q3</c:v>
                </c:pt>
                <c:pt idx="3">
                  <c:v>Q4</c:v>
                </c:pt>
              </c:strCache>
            </c:strRef>
          </c:cat>
          <c:val>
            <c:numRef>
              <c:f>Sheet1!$C$2:$C$5</c:f>
              <c:numCache>
                <c:formatCode>General</c:formatCode>
                <c:ptCount val="4"/>
                <c:pt idx="0">
                  <c:v>140</c:v>
                </c:pt>
                <c:pt idx="1">
                  <c:v>160</c:v>
                </c:pt>
                <c:pt idx="2">
                  <c:v>185</c:v>
                </c:pt>
                <c:pt idx="3">
                  <c:v>210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r>
              <a:rPr sz="5400" b="1">
                <a:solidFill>
                  <a:srgbClr val="FFFFFF"/>
                </a:solidFill>
                <a:latin typeface="Noto Sans TC"/>
              </a:rPr>
              <a:t>2026 年度營運報告</a:t>
            </a:r>
          </a:p>
        </p:txBody>
      </p:sp>
      <p:sp>
        <p:nvSpPr>
          <p:cNvPr id="4" name="TextBox 3"/>
          <p:cNvSpPr txBox="1"/>
          <p:nvPr/>
        </p:nvSpPr>
        <p:spPr>
          <a:xfrm>
            <a:off x="914400" y="3840480"/>
            <a:ext cx="10058400" cy="914400"/>
          </a:xfrm>
          <a:prstGeom prst="rect">
            <a:avLst/>
          </a:prstGeom>
          <a:noFill/>
        </p:spPr>
        <p:txBody>
          <a:bodyPr wrap="square">
            <a:spAutoFit/>
          </a:bodyPr>
          <a:lstStyle/>
          <a:p>
            <a:r>
              <a:rPr sz="2400" b="0">
                <a:solidFill>
                  <a:srgbClr val="CCCCDD"/>
                </a:solidFill>
                <a:latin typeface="Inter"/>
              </a:rPr>
              <a:t>Annual Operations Review — Q4 highlights and next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3600" b="1">
                <a:solidFill>
                  <a:srgbClr val="111111"/>
                </a:solidFill>
                <a:latin typeface="Noto Sans TC"/>
              </a:rPr>
              <a:t>三大重點：成長、效率與風險控管</a:t>
            </a:r>
          </a:p>
        </p:txBody>
      </p:sp>
      <p:sp>
        <p:nvSpPr>
          <p:cNvPr id="3" name="TextBox 2"/>
          <p:cNvSpPr txBox="1"/>
          <p:nvPr/>
        </p:nvSpPr>
        <p:spPr>
          <a:xfrm>
            <a:off x="731520" y="1645920"/>
            <a:ext cx="10698480" cy="4114800"/>
          </a:xfrm>
          <a:prstGeom prst="rect">
            <a:avLst/>
          </a:prstGeom>
          <a:noFill/>
        </p:spPr>
        <p:txBody>
          <a:bodyPr wrap="square">
            <a:spAutoFit/>
          </a:bodyPr>
          <a:lstStyle/>
          <a:p>
            <a:pPr>
              <a:spcAft>
                <a:spcPts val="1200"/>
              </a:spcAft>
            </a:pPr>
            <a:r>
              <a:rPr sz="2200">
                <a:latin typeface="Noto Sans TC"/>
              </a:rPr>
              <a:t>• 營收較去年成長 23%，主要來自新市場的拓展與既有客戶的續約率提升</a:t>
            </a:r>
          </a:p>
          <a:p>
            <a:pPr>
              <a:spcAft>
                <a:spcPts val="1200"/>
              </a:spcAft>
            </a:pPr>
            <a:r>
              <a:rPr sz="2200">
                <a:latin typeface="Noto Sans TC"/>
              </a:rPr>
              <a:t>• 毛利率改善 2.1 個百分點，供應鏈整合帶來的成本節省已超過原先預期</a:t>
            </a:r>
          </a:p>
          <a:p>
            <a:pPr>
              <a:spcAft>
                <a:spcPts val="1200"/>
              </a:spcAft>
            </a:pPr>
            <a:r>
              <a:rPr sz="2200">
                <a:latin typeface="Noto Sans TC"/>
              </a:rPr>
              <a:t>• 客服回應時間縮短 40%，客戶滿意度達到歷史新高，這個數字會在下一季持續追蹤</a:t>
            </a:r>
          </a:p>
          <a:p>
            <a:pPr>
              <a:spcAft>
                <a:spcPts val="1200"/>
              </a:spcAft>
            </a:pPr>
            <a:r>
              <a:rPr sz="2200">
                <a:latin typeface="Noto Sans TC"/>
              </a:rPr>
              <a:t>• 主要風險：匯率波動、原物料價格，以及第三方供應商集中度過高的問題需要在明年處理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3600" b="1">
                <a:solidFill>
                  <a:srgbClr val="111111"/>
                </a:solidFill>
                <a:latin typeface="Inter"/>
              </a:rPr>
              <a:t>Revenue by quarter</a:t>
            </a:r>
          </a:p>
        </p:txBody>
      </p:sp>
      <p:graphicFrame>
        <p:nvGraphicFramePr>
          <p:cNvPr id="3" name="Chart 2"/>
          <p:cNvGraphicFramePr>
            <a:graphicFrameLocks noGrp="1"/>
          </p:cNvGraphicFramePr>
          <p:nvPr/>
        </p:nvGraphicFramePr>
        <p:xfrm>
          <a:off x="731520" y="1554480"/>
          <a:ext cx="6400800" cy="4572000"/>
        </p:xfrm>
        <a:graphic>
          <a:graphicData uri="http://schemas.openxmlformats.org/drawingml/2006/chart">
            <c:chart xmlns:c="http://schemas.openxmlformats.org/drawingml/2006/chart" r:id="rId2"/>
          </a:graphicData>
        </a:graphic>
      </p:graphicFrame>
      <p:sp>
        <p:nvSpPr>
          <p:cNvPr id="4" name="TextBox 3"/>
          <p:cNvSpPr txBox="1"/>
          <p:nvPr/>
        </p:nvSpPr>
        <p:spPr>
          <a:xfrm>
            <a:off x="7498079" y="1828800"/>
            <a:ext cx="4114800" cy="2743200"/>
          </a:xfrm>
          <a:prstGeom prst="rect">
            <a:avLst/>
          </a:prstGeom>
          <a:noFill/>
        </p:spPr>
        <p:txBody>
          <a:bodyPr wrap="square">
            <a:spAutoFit/>
          </a:bodyPr>
          <a:lstStyle/>
          <a:p>
            <a:r>
              <a:rPr sz="2000" b="0">
                <a:solidFill>
                  <a:srgbClr val="111111"/>
                </a:solidFill>
                <a:latin typeface="Inter"/>
              </a:rPr>
              <a:t>Q4 reached 210M, the best quarter on record, with growth in every region and no major one-off items.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r>
              <a:rPr sz="3600" b="1">
                <a:solidFill>
                  <a:srgbClr val="111111"/>
                </a:solidFill>
                <a:latin typeface="Noto Sans TC"/>
              </a:rPr>
              <a:t>這張投影片的標題故意寫得非常非常長長長長長長長長長長長長長長長長長長長長長以測試溢出</a:t>
            </a:r>
          </a:p>
        </p:txBody>
      </p:sp>
      <p:graphicFrame>
        <p:nvGraphicFramePr>
          <p:cNvPr id="3" name="Table 2"/>
          <p:cNvGraphicFramePr>
            <a:graphicFrameLocks noGrp="1"/>
          </p:cNvGraphicFramePr>
          <p:nvPr/>
        </p:nvGraphicFramePr>
        <p:xfrm>
          <a:off x="731520" y="1828800"/>
          <a:ext cx="10698480" cy="2743200"/>
        </p:xfrm>
        <a:graphic>
          <a:graphicData uri="http://schemas.openxmlformats.org/drawingml/2006/table">
            <a:tbl>
              <a:tblPr firstRow="1" bandRow="1">
                <a:tableStyleId>{5C22544A-7EE6-4342-B048-85BDC9FD1C3A}</a:tableStyleId>
              </a:tblPr>
              <a:tblGrid>
                <a:gridCol w="3566160"/>
                <a:gridCol w="3566160"/>
                <a:gridCol w="3566160"/>
              </a:tblGrid>
              <a:tr h="685800">
                <a:tc>
                  <a:txBody>
                    <a:bodyPr/>
                    <a:lstStyle/>
                    <a:p>
                      <a:r>
                        <a:t>儲存格 0-0</a:t>
                      </a:r>
                    </a:p>
                  </a:txBody>
                  <a:tcPr/>
                </a:tc>
                <a:tc>
                  <a:txBody>
                    <a:bodyPr/>
                    <a:lstStyle/>
                    <a:p>
                      <a:r>
                        <a:t>儲存格 0-1</a:t>
                      </a:r>
                    </a:p>
                  </a:txBody>
                  <a:tcPr/>
                </a:tc>
                <a:tc>
                  <a:txBody>
                    <a:bodyPr/>
                    <a:lstStyle/>
                    <a:p>
                      <a:r>
                        <a:t>儲存格 0-2</a:t>
                      </a:r>
                    </a:p>
                  </a:txBody>
                  <a:tcPr/>
                </a:tc>
              </a:tr>
              <a:tr h="685800">
                <a:tc>
                  <a:txBody>
                    <a:bodyPr/>
                    <a:lstStyle/>
                    <a:p>
                      <a:r>
                        <a:t>儲存格 1-0</a:t>
                      </a:r>
                    </a:p>
                  </a:txBody>
                  <a:tcPr/>
                </a:tc>
                <a:tc>
                  <a:txBody>
                    <a:bodyPr/>
                    <a:lstStyle/>
                    <a:p>
                      <a:r>
                        <a:t>儲存格 1-1</a:t>
                      </a:r>
                    </a:p>
                  </a:txBody>
                  <a:tcPr/>
                </a:tc>
                <a:tc>
                  <a:txBody>
                    <a:bodyPr/>
                    <a:lstStyle/>
                    <a:p>
                      <a:r>
                        <a:t>儲存格 1-2</a:t>
                      </a:r>
                    </a:p>
                  </a:txBody>
                  <a:tcPr/>
                </a:tc>
              </a:tr>
              <a:tr h="685800">
                <a:tc>
                  <a:txBody>
                    <a:bodyPr/>
                    <a:lstStyle/>
                    <a:p>
                      <a:r>
                        <a:t>儲存格 2-0</a:t>
                      </a:r>
                    </a:p>
                  </a:txBody>
                  <a:tcPr/>
                </a:tc>
                <a:tc>
                  <a:txBody>
                    <a:bodyPr/>
                    <a:lstStyle/>
                    <a:p>
                      <a:r>
                        <a:t>儲存格 2-1</a:t>
                      </a:r>
                    </a:p>
                  </a:txBody>
                  <a:tcPr/>
                </a:tc>
                <a:tc>
                  <a:txBody>
                    <a:bodyPr/>
                    <a:lstStyle/>
                    <a:p>
                      <a:r>
                        <a:t>儲存格 2-2</a:t>
                      </a:r>
                    </a:p>
                  </a:txBody>
                  <a:tcPr/>
                </a:tc>
              </a:tr>
              <a:tr h="685800">
                <a:tc>
                  <a:txBody>
                    <a:bodyPr/>
                    <a:lstStyle/>
                    <a:p>
                      <a:r>
                        <a:t>儲存格 3-0</a:t>
                      </a:r>
                    </a:p>
                  </a:txBody>
                  <a:tcPr/>
                </a:tc>
                <a:tc>
                  <a:txBody>
                    <a:bodyPr/>
                    <a:lstStyle/>
                    <a:p>
                      <a:r>
                        <a:t>儲存格 3-1</a:t>
                      </a:r>
                    </a:p>
                  </a:txBody>
                  <a:tcPr/>
                </a:tc>
                <a:tc>
                  <a:txBody>
                    <a:bodyPr/>
                    <a:lstStyle/>
                    <a:p>
                      <a:r>
                        <a:t>儲存格 3-2</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